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58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1CBFF"/>
                </a:solidFill>
                <a:latin typeface="Aptos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8046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F6FA"/>
                </a:solidFill>
                <a:latin typeface="Georgia"/>
              </a:rPr>
              <a:t>SECURITY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14884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B2C6"/>
                </a:solidFill>
                <a:latin typeface="Aptos"/>
              </a:rPr>
              <a:t>Linux Server Hardening, Monitoring, Auditing, Detection &amp;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658368"/>
            <a:ext cx="3474720" cy="521208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143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1CBFF"/>
                </a:solidFill>
                <a:latin typeface="Aptos"/>
              </a:rPr>
              <a:t>E01 — E43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Evidence-backed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7889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B2C6"/>
                </a:solidFill>
                <a:latin typeface="Aptos"/>
              </a:rPr>
              <a:t>SSH  •  UFW  •  Fail2ban  •  Suricata</a:t>
            </a:r>
            <a:r>
              <a:t/>
            </a:r>
            <a:br/>
            <a:r>
              <a:t>auditd  •  Postfix  •  Cron  •  Backup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160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DC99"/>
                </a:solidFill>
                <a:latin typeface="Aptos"/>
              </a:rPr>
              <a:t>43 evidence captures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709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B2C6"/>
                </a:solidFill>
                <a:latin typeface="Aptos"/>
              </a:rPr>
              <a:t>Professional review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Case Study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A concise review of the implemented controls and their evidence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520440" cy="160020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CBFF"/>
                </a:solidFill>
                <a:latin typeface="Aptos"/>
              </a:rPr>
              <a:t>HARDEN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2971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SSH service, key-based authentication, root/password restrictions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783080"/>
            <a:ext cx="3520440" cy="160020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CBFF"/>
                </a:solidFill>
                <a:latin typeface="Aptos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404872"/>
            <a:ext cx="2971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Authentication, firewall, Fail2ban and IDS visibility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1783080"/>
            <a:ext cx="3520440" cy="160020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CBFF"/>
                </a:solidFill>
                <a:latin typeface="Aptos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404872"/>
            <a:ext cx="2971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auditd rules, file changes, SSH configuration and account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49039"/>
            <a:ext cx="3520440" cy="160020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5020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CBFF"/>
                </a:solidFill>
                <a:latin typeface="Aptos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1"/>
            <a:ext cx="2971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Postfix-based notifications tied to security detections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3749039"/>
            <a:ext cx="3520440" cy="160020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81728" y="395020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CBFF"/>
                </a:solidFill>
                <a:latin typeface="Aptos"/>
              </a:rPr>
              <a:t>OPERATE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4370831"/>
            <a:ext cx="2971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Cron, time synchronization and log rotation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11896" y="3749039"/>
            <a:ext cx="3520440" cy="160020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0496" y="395020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CBFF"/>
                </a:solidFill>
                <a:latin typeface="Aptos"/>
              </a:rPr>
              <a:t>RECOVER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4370831"/>
            <a:ext cx="2971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Backup creation, verification, restore and scheduled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Network &amp; SSH Trust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Windows static IP configuration</a:t>
            </a:r>
          </a:p>
        </p:txBody>
      </p:sp>
      <p:pic>
        <p:nvPicPr>
          <p:cNvPr id="10" name="Picture 9" descr="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Windows IP configuration verification</a:t>
            </a:r>
          </a:p>
        </p:txBody>
      </p:sp>
      <p:pic>
        <p:nvPicPr>
          <p:cNvPr id="15" name="Picture 14" descr="E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Network &amp; SSH Trust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Initial Linux network / baseline connectivity</a:t>
            </a:r>
          </a:p>
        </p:txBody>
      </p:sp>
      <p:pic>
        <p:nvPicPr>
          <p:cNvPr id="10" name="Picture 9" descr="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Ubuntu static IP verification</a:t>
            </a:r>
          </a:p>
        </p:txBody>
      </p:sp>
      <p:pic>
        <p:nvPicPr>
          <p:cNvPr id="15" name="Picture 14" descr="E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SSH Service &amp;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SSH service active before hardening</a:t>
            </a:r>
          </a:p>
        </p:txBody>
      </p:sp>
      <p:pic>
        <p:nvPicPr>
          <p:cNvPr id="10" name="Picture 9" descr="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SSH key-based authentication / network verification</a:t>
            </a:r>
          </a:p>
        </p:txBody>
      </p:sp>
      <p:pic>
        <p:nvPicPr>
          <p:cNvPr id="15" name="Picture 14" descr="E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SSH Service &amp;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SSH hardening configuration</a:t>
            </a:r>
          </a:p>
        </p:txBody>
      </p:sp>
      <p:pic>
        <p:nvPicPr>
          <p:cNvPr id="10" name="Picture 9" descr="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SSH hardening configuration validation</a:t>
            </a:r>
          </a:p>
        </p:txBody>
      </p:sp>
      <p:pic>
        <p:nvPicPr>
          <p:cNvPr id="15" name="Picture 14" descr="E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SSH Hardening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SSH password and root access blocked</a:t>
            </a:r>
          </a:p>
        </p:txBody>
      </p:sp>
      <p:pic>
        <p:nvPicPr>
          <p:cNvPr id="10" name="Picture 9" descr="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SSH service active after hardening</a:t>
            </a:r>
          </a:p>
        </p:txBody>
      </p:sp>
      <p:pic>
        <p:nvPicPr>
          <p:cNvPr id="15" name="Picture 14" descr="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SSH Hardening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Admin user creation and verification</a:t>
            </a:r>
          </a:p>
        </p:txBody>
      </p:sp>
      <p:pic>
        <p:nvPicPr>
          <p:cNvPr id="10" name="Picture 9" descr="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UFW firewall active and SSH restricted</a:t>
            </a:r>
          </a:p>
        </p:txBody>
      </p:sp>
      <p:pic>
        <p:nvPicPr>
          <p:cNvPr id="15" name="Picture 14" descr="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Intrusion Prevention &amp; Network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Fail2ban active</a:t>
            </a:r>
          </a:p>
        </p:txBody>
      </p:sp>
      <p:pic>
        <p:nvPicPr>
          <p:cNvPr id="10" name="Picture 9" descr="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Fail2ban SSH brute-force IP ban</a:t>
            </a:r>
          </a:p>
        </p:txBody>
      </p:sp>
      <p:pic>
        <p:nvPicPr>
          <p:cNvPr id="15" name="Picture 14" descr="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Intrusion Prevention &amp; Network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Fail2ban SSHD jail status</a:t>
            </a:r>
          </a:p>
        </p:txBody>
      </p:sp>
      <p:pic>
        <p:nvPicPr>
          <p:cNvPr id="10" name="Picture 9" descr="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Meridian data directory permissions and access control</a:t>
            </a:r>
          </a:p>
        </p:txBody>
      </p:sp>
      <p:pic>
        <p:nvPicPr>
          <p:cNvPr id="15" name="Picture 14" descr="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Authentication &amp; Policy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Password policy configuration</a:t>
            </a:r>
          </a:p>
        </p:txBody>
      </p:sp>
      <p:pic>
        <p:nvPicPr>
          <p:cNvPr id="10" name="Picture 9" descr="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Suricata configuration test success</a:t>
            </a:r>
          </a:p>
        </p:txBody>
      </p:sp>
      <p:pic>
        <p:nvPicPr>
          <p:cNvPr id="15" name="Picture 14" descr="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Authentication &amp; Policy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Suricata IDS service active</a:t>
            </a:r>
          </a:p>
        </p:txBody>
      </p:sp>
      <p:pic>
        <p:nvPicPr>
          <p:cNvPr id="10" name="Picture 9" descr="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Suricata IDS alert detection</a:t>
            </a:r>
          </a:p>
        </p:txBody>
      </p:sp>
      <p:pic>
        <p:nvPicPr>
          <p:cNvPr id="15" name="Picture 14" descr="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IDS / Security Event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Suricata installation verification</a:t>
            </a:r>
          </a:p>
        </p:txBody>
      </p:sp>
      <p:pic>
        <p:nvPicPr>
          <p:cNvPr id="10" name="Picture 9" descr="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Auditd service active / protected data context</a:t>
            </a:r>
          </a:p>
        </p:txBody>
      </p:sp>
      <p:pic>
        <p:nvPicPr>
          <p:cNvPr id="15" name="Picture 14" descr="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IDS / Security Event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Auditd file-change detection</a:t>
            </a:r>
          </a:p>
        </p:txBody>
      </p:sp>
      <p:pic>
        <p:nvPicPr>
          <p:cNvPr id="10" name="Picture 9" descr="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Auditd SSH configuration monitoring</a:t>
            </a:r>
          </a:p>
        </p:txBody>
      </p:sp>
      <p:pic>
        <p:nvPicPr>
          <p:cNvPr id="15" name="Picture 14" descr="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Auditd Rules &amp; File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Meridian auditd security rules</a:t>
            </a:r>
          </a:p>
        </p:txBody>
      </p:sp>
      <p:pic>
        <p:nvPicPr>
          <p:cNvPr id="10" name="Picture 9" descr="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Password file permissions verification</a:t>
            </a:r>
          </a:p>
        </p:txBody>
      </p:sp>
      <p:pic>
        <p:nvPicPr>
          <p:cNvPr id="15" name="Picture 14" descr="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Auditd Rules &amp; File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Repeated SSH failed authentication</a:t>
            </a:r>
          </a:p>
        </p:txBody>
      </p:sp>
      <p:pic>
        <p:nvPicPr>
          <p:cNvPr id="10" name="Picture 9" descr="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Postfix email alerting service active</a:t>
            </a:r>
          </a:p>
        </p:txBody>
      </p:sp>
      <p:pic>
        <p:nvPicPr>
          <p:cNvPr id="15" name="Picture 14" descr="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Alerting &amp; Email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Postfix local mail delivery</a:t>
            </a:r>
          </a:p>
        </p:txBody>
      </p:sp>
      <p:pic>
        <p:nvPicPr>
          <p:cNvPr id="10" name="Picture 9" descr="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Root console login automatic alert</a:t>
            </a:r>
          </a:p>
        </p:txBody>
      </p:sp>
      <p:pic>
        <p:nvPicPr>
          <p:cNvPr id="15" name="Picture 14" descr="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Alerting &amp; Email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Sensitive data directory monitoring</a:t>
            </a:r>
          </a:p>
        </p:txBody>
      </p:sp>
      <p:pic>
        <p:nvPicPr>
          <p:cNvPr id="10" name="Picture 9" descr="E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SSH configuration monitoring</a:t>
            </a:r>
          </a:p>
        </p:txBody>
      </p:sp>
      <p:pic>
        <p:nvPicPr>
          <p:cNvPr id="15" name="Picture 14" descr="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Investigation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Identity and account changes detection</a:t>
            </a:r>
          </a:p>
        </p:txBody>
      </p:sp>
      <p:pic>
        <p:nvPicPr>
          <p:cNvPr id="10" name="Picture 9" descr="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Meridian daily security audit script</a:t>
            </a:r>
          </a:p>
        </p:txBody>
      </p:sp>
      <p:pic>
        <p:nvPicPr>
          <p:cNvPr id="15" name="Picture 14" descr="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Investigation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Cron job / daily audit log configured</a:t>
            </a:r>
          </a:p>
        </p:txBody>
      </p:sp>
      <p:pic>
        <p:nvPicPr>
          <p:cNvPr id="10" name="Picture 9" descr="E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Time synchronization status</a:t>
            </a:r>
          </a:p>
        </p:txBody>
      </p:sp>
      <p:pic>
        <p:nvPicPr>
          <p:cNvPr id="15" name="Picture 14" descr="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Operations: Time &amp; Log 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Log rotation security logs</a:t>
            </a:r>
          </a:p>
        </p:txBody>
      </p:sp>
      <p:pic>
        <p:nvPicPr>
          <p:cNvPr id="10" name="Picture 9" descr="E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Backup directory created</a:t>
            </a:r>
          </a:p>
        </p:txBody>
      </p:sp>
      <p:pic>
        <p:nvPicPr>
          <p:cNvPr id="15" name="Picture 14" descr="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Layered 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B4C8"/>
                </a:solidFill>
                <a:latin typeface="Aptos"/>
              </a:defRPr>
            </a:pPr>
            <a:r>
              <a:t>Network flow, host controls, administrative access and recovery controls.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DC99"/>
                </a:solidFill>
                <a:latin typeface="Aptos"/>
              </a:rPr>
              <a:t>Every control is tied to evidence captures E01–E43.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03</a:t>
            </a:r>
          </a:p>
        </p:txBody>
      </p:sp>
      <p:pic>
        <p:nvPicPr>
          <p:cNvPr id="34" name="Picture 33" descr="architecture_diagram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10908792" cy="338973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" y="4892040"/>
            <a:ext cx="10908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41CBFF"/>
                </a:solidFill>
                <a:latin typeface="Aptos Display"/>
              </a:defRPr>
            </a:pPr>
            <a:r>
              <a:t>Security Control Justifications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85232"/>
            <a:ext cx="10908792" cy="932688"/>
          </a:xfrm>
          <a:prstGeom prst="rect">
            <a:avLst/>
          </a:prstGeom>
          <a:solidFill>
            <a:srgbClr val="1A3452"/>
          </a:solidFill>
          <a:ln>
            <a:solidFill>
              <a:srgbClr val="41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64592" bIns="36576" rtlCol="0" anchor="ctr"/>
          <a:lstStyle/>
          <a:p>
            <a:pPr algn="l">
              <a:spcAft>
                <a:spcPts val="0"/>
              </a:spcAft>
              <a:defRPr sz="950">
                <a:solidFill>
                  <a:srgbClr val="F0F5FA"/>
                </a:solidFill>
                <a:latin typeface="Aptos"/>
              </a:defRPr>
            </a:pPr>
            <a:r>
              <a:t>• Perimeter Firewall: Blocks unauthorized external traffic before it enters the internal network.</a:t>
            </a:r>
          </a:p>
          <a:p>
            <a:pPr algn="l">
              <a:spcAft>
                <a:spcPts val="0"/>
              </a:spcAft>
              <a:defRPr sz="950">
                <a:solidFill>
                  <a:srgbClr val="F0F5FA"/>
                </a:solidFill>
                <a:latin typeface="Aptos"/>
              </a:defRPr>
            </a:pPr>
            <a:r>
              <a:t>• Suricata IDS/IPS: Inspects network traffic to detect suspicious patterns and intrusion attempts.</a:t>
            </a:r>
          </a:p>
          <a:p>
            <a:pPr algn="l">
              <a:spcAft>
                <a:spcPts val="0"/>
              </a:spcAft>
              <a:defRPr sz="950">
                <a:solidFill>
                  <a:srgbClr val="F0F5FA"/>
                </a:solidFill>
                <a:latin typeface="Aptos"/>
              </a:defRPr>
            </a:pPr>
            <a:r>
              <a:t>• Linux Server: Applies host-level security using UFW, Fail2ban, authentication and logging controls.</a:t>
            </a:r>
          </a:p>
          <a:p>
            <a:pPr algn="l">
              <a:spcAft>
                <a:spcPts val="0"/>
              </a:spcAft>
              <a:defRPr sz="950">
                <a:solidFill>
                  <a:srgbClr val="F0F5FA"/>
                </a:solidFill>
                <a:latin typeface="Aptos"/>
              </a:defRPr>
            </a:pPr>
            <a:r>
              <a:t>• Windows Administrator Workstation: Provides authorized administrative access through SSH.</a:t>
            </a:r>
          </a:p>
          <a:p>
            <a:pPr algn="l">
              <a:spcAft>
                <a:spcPts val="0"/>
              </a:spcAft>
              <a:defRPr sz="950">
                <a:solidFill>
                  <a:srgbClr val="F0F5FA"/>
                </a:solidFill>
                <a:latin typeface="Aptos"/>
              </a:defRPr>
            </a:pPr>
            <a:r>
              <a:t>• Backup / Recovery: Supports data recovery and business continuity after system failure or attack.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Operations: Time &amp; Log 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Backup test data</a:t>
            </a:r>
          </a:p>
        </p:txBody>
      </p:sp>
      <p:pic>
        <p:nvPicPr>
          <p:cNvPr id="10" name="Picture 9" descr="E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6" y="2340864"/>
            <a:ext cx="433244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Backup restore verification</a:t>
            </a:r>
          </a:p>
        </p:txBody>
      </p:sp>
      <p:pic>
        <p:nvPicPr>
          <p:cNvPr id="15" name="Picture 14" descr="E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54" y="2340864"/>
            <a:ext cx="4332443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Backup &amp;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Two evidence captures — full screenshots preserved without cropping.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41CBFF"/>
                </a:solidFill>
                <a:latin typeface="Aptos"/>
              </a:rPr>
              <a:t>E41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Backup hourly cron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394960" cy="43159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836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CBFF"/>
                </a:solidFill>
                <a:latin typeface="Aptos"/>
              </a:rPr>
              <a:t>E42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8653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Backup / integrity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2C6"/>
                </a:solidFill>
                <a:latin typeface="Aptos"/>
              </a:rPr>
              <a:t>Evidence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24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-217" t="-307" r="217" b="307"/>
          <a:stretch/>
        </p:blipFill>
        <p:spPr>
          <a:xfrm>
            <a:off x="6605896" y="2331321"/>
            <a:ext cx="4334632" cy="30665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546" y="2748383"/>
            <a:ext cx="4185332" cy="223243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092" y="2331321"/>
            <a:ext cx="4334632" cy="306655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36" y="2748383"/>
            <a:ext cx="4194489" cy="22324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53667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1CBFF"/>
                </a:solidFill>
                <a:latin typeface="Aptos"/>
              </a:defRPr>
            </a:pPr>
            <a:r>
              <a:rPr dirty="0" smtClean="0"/>
              <a:t>1</a:t>
            </a:r>
            <a:r>
              <a:rPr lang="en-US" dirty="0" smtClean="0"/>
              <a:t>2</a:t>
            </a:r>
            <a:r>
              <a:rPr dirty="0" smtClean="0"/>
              <a:t> </a:t>
            </a:r>
            <a:r>
              <a:rPr dirty="0"/>
              <a:t>• FINAL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038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B4C8"/>
                </a:solidFill>
                <a:latin typeface="Aptos"/>
              </a:defRPr>
            </a:pPr>
            <a:r>
              <a:rPr dirty="0" smtClean="0"/>
              <a:t>validates </a:t>
            </a:r>
            <a:r>
              <a:rPr dirty="0"/>
              <a:t>least-privilege restrictions on scheduled task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7132320" cy="425196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prstClr val="black"/>
                </a:solidFill>
              </a:rPr>
              <a:t>E43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834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41CBFF"/>
                </a:solidFill>
                <a:latin typeface="Aptos"/>
              </a:rPr>
              <a:t>E43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0871" y="1828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5FA"/>
                </a:solidFill>
                <a:latin typeface="Aptos"/>
              </a:defRPr>
            </a:pPr>
            <a:r>
              <a:t>Adminuser at / crontab access denied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737360"/>
            <a:ext cx="3639312" cy="4251960"/>
          </a:xfrm>
          <a:prstGeom prst="roundRect">
            <a:avLst/>
          </a:prstGeom>
          <a:solidFill>
            <a:srgbClr val="182E4A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9748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ECDDC"/>
                </a:solidFill>
                <a:latin typeface="Aptos"/>
              </a:defRPr>
            </a:pPr>
            <a:r>
              <a:t>• at access denied for adminuser</a:t>
            </a:r>
          </a:p>
          <a:p>
            <a:pPr>
              <a:defRPr sz="1100">
                <a:solidFill>
                  <a:srgbClr val="BECDDC"/>
                </a:solidFill>
                <a:latin typeface="Aptos"/>
              </a:defRPr>
            </a:pPr>
            <a:r>
              <a:t>• crontab access denied for adminuser</a:t>
            </a:r>
          </a:p>
          <a:p>
            <a:pPr>
              <a:defRPr sz="1100">
                <a:solidFill>
                  <a:srgbClr val="BECDDC"/>
                </a:solidFill>
                <a:latin typeface="Aptos"/>
              </a:defRPr>
            </a:pPr>
            <a:r>
              <a:t>• Least-privilege restriction validated</a:t>
            </a:r>
          </a:p>
          <a:p>
            <a:pPr>
              <a:defRPr sz="1100">
                <a:solidFill>
                  <a:srgbClr val="BECDDC"/>
                </a:solidFill>
                <a:latin typeface="Aptos"/>
              </a:defRPr>
            </a:pPr>
            <a:r>
              <a:t>• Evidence captured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983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CBFF"/>
                </a:solidFill>
                <a:latin typeface="Aptos"/>
              </a:defRPr>
            </a:pPr>
            <a:r>
              <a:t>STATUS  ✓  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2273038"/>
            <a:ext cx="5289018" cy="30665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748" y="2641715"/>
            <a:ext cx="5111308" cy="24105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33" y="5482300"/>
            <a:ext cx="2011854" cy="2499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Security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The implementation addresses the case-study objectives with evidence-backed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881360" cy="6583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1CBFF"/>
                </a:solidFill>
                <a:latin typeface="Aptos"/>
              </a:rPr>
              <a:t>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0195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SSH access hardened; root/password access restricted.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96896"/>
            <a:ext cx="10881360" cy="6583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761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1CBFF"/>
                </a:solidFill>
                <a:latin typeface="Aptos"/>
              </a:rPr>
              <a:t>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432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Authentication, IDS and audit events are captured for investigation.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38144"/>
            <a:ext cx="10881360" cy="6583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6027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1CBFF"/>
                </a:solidFill>
                <a:latin typeface="Aptos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584448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Fail2ban and alerting provide response-oriented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79392"/>
            <a:ext cx="10881360" cy="6583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443983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1CBFF"/>
                </a:solidFill>
                <a:latin typeface="Aptos"/>
              </a:rPr>
              <a:t>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25696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Backup creation, verification and restore evidence support recovery.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120640"/>
            <a:ext cx="10881360" cy="658368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5285231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1CBFF"/>
                </a:solidFill>
                <a:latin typeface="Aptos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266944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Time synchronization, log rotation and scheduled jobs improve hygiene.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1CBFF"/>
                </a:solidFill>
                <a:latin typeface="Aptos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7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Georgia"/>
              </a:rPr>
              <a:t>Final Validation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252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Evidence coverage across the major control families.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881360" cy="512064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6FA"/>
                </a:solidFill>
                <a:latin typeface="Aptos"/>
              </a:rPr>
              <a:t>SSH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874519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1CBFF"/>
                </a:solidFill>
                <a:latin typeface="Aptos"/>
              </a:rPr>
              <a:t>E01–E10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87451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2DC99"/>
                </a:solidFill>
                <a:latin typeface="Aptos"/>
              </a:rPr>
              <a:t>✓ 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14015"/>
            <a:ext cx="10881360" cy="512064"/>
          </a:xfrm>
          <a:prstGeom prst="roundRect">
            <a:avLst/>
          </a:prstGeom>
          <a:solidFill>
            <a:srgbClr val="182E4A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32887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6FA"/>
                </a:solidFill>
                <a:latin typeface="Aptos"/>
              </a:rPr>
              <a:t>Firewall /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53288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1CBFF"/>
                </a:solidFill>
                <a:latin typeface="Aptos"/>
              </a:rPr>
              <a:t>E12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532887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2DC99"/>
                </a:solidFill>
                <a:latin typeface="Aptos"/>
              </a:rPr>
              <a:t>✓ Validated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72384"/>
            <a:ext cx="10881360" cy="512064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1912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6FA"/>
                </a:solidFill>
                <a:latin typeface="Aptos"/>
              </a:rPr>
              <a:t>Intrusion Prevention / 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19125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1CBFF"/>
                </a:solidFill>
                <a:latin typeface="Aptos"/>
              </a:rPr>
              <a:t>E13–E21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19125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2DC99"/>
                </a:solidFill>
                <a:latin typeface="Aptos"/>
              </a:rPr>
              <a:t>✓ Validated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30752"/>
            <a:ext cx="10881360" cy="512064"/>
          </a:xfrm>
          <a:prstGeom prst="roundRect">
            <a:avLst/>
          </a:prstGeom>
          <a:solidFill>
            <a:srgbClr val="182E4A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8496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6FA"/>
                </a:solidFill>
                <a:latin typeface="Aptos"/>
              </a:rPr>
              <a:t>Auditd / Auditing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84962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1CBFF"/>
                </a:solidFill>
                <a:latin typeface="Aptos"/>
              </a:rPr>
              <a:t>E22–E27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2DC99"/>
                </a:solidFill>
                <a:latin typeface="Aptos"/>
              </a:rPr>
              <a:t>✓ Validated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89120"/>
            <a:ext cx="10881360" cy="512064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507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6FA"/>
                </a:solidFill>
                <a:latin typeface="Aptos"/>
              </a:rPr>
              <a:t>Alerting / Investigation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5079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1CBFF"/>
                </a:solidFill>
                <a:latin typeface="Aptos"/>
              </a:rPr>
              <a:t>E28–E34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5079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2DC99"/>
                </a:solidFill>
                <a:latin typeface="Aptos"/>
              </a:rPr>
              <a:t>✓ Validated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47488"/>
            <a:ext cx="10881360" cy="512064"/>
          </a:xfrm>
          <a:prstGeom prst="roundRect">
            <a:avLst/>
          </a:prstGeom>
          <a:solidFill>
            <a:srgbClr val="182E4A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16635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6FA"/>
                </a:solidFill>
                <a:latin typeface="Aptos"/>
              </a:rPr>
              <a:t>Operations /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166359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1CBFF"/>
                </a:solidFill>
                <a:latin typeface="Aptos"/>
              </a:rPr>
              <a:t>E35–E43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16635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2DC99"/>
                </a:solidFill>
                <a:latin typeface="Aptos"/>
              </a:rPr>
              <a:t>✓ Validated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1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1CBFF"/>
                </a:solidFill>
                <a:latin typeface="Aptos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2F6FA"/>
                </a:solidFill>
                <a:latin typeface="Georgia"/>
              </a:rPr>
              <a:t>SECURITY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2DC99"/>
                </a:solidFill>
                <a:latin typeface="Aptos"/>
              </a:rPr>
              <a:t>Hardened  •  Monitored  •  Audited  •  Recoverable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6949440" cy="2057400"/>
          </a:xfrm>
          <a:prstGeom prst="roundRect">
            <a:avLst/>
          </a:prstGeom>
          <a:solidFill>
            <a:srgbClr val="142740"/>
          </a:solidFill>
          <a:ln w="12700">
            <a:solidFill>
              <a:srgbClr val="30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1CBFF"/>
                </a:solidFill>
                <a:latin typeface="Aptos"/>
              </a:rPr>
              <a:t>Evidence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6FA"/>
                </a:solidFill>
                <a:latin typeface="Aptos"/>
              </a:rPr>
              <a:t>E01–E43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B2C6"/>
                </a:solidFill>
                <a:latin typeface="Aptos"/>
              </a:rPr>
              <a:t>The final deck keeps two evidence screenshots per slide, preserves the full screenshots, and avoids image cropping.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5166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1CBFF"/>
                </a:solidFill>
                <a:latin typeface="Aptos"/>
              </a:rPr>
              <a:t>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MERIDIAN SECURITY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1CBFF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1176</Words>
  <Application>Microsoft Office PowerPoint</Application>
  <PresentationFormat>Widescreen</PresentationFormat>
  <Paragraphs>330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Riken Patel</dc:creator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2026-09-01T15:07:01Z</dcterms:modified>
  <cp:category/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